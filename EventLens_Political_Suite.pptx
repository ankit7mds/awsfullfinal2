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0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73152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5029200" cy="9144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5029200" cy="9144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737360"/>
            <a:ext cx="5029200" cy="9144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560320"/>
            <a:ext cx="5029200" cy="9144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383280"/>
            <a:ext cx="5029200" cy="9144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206240"/>
            <a:ext cx="5029200" cy="9144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9200"/>
            <a:ext cx="5029200" cy="9144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852159"/>
            <a:ext cx="5029200" cy="9144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097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4F4F6"/>
                </a:solidFill>
                <a:latin typeface="Georgia"/>
              </a:rPr>
              <a:t>EventLens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783080"/>
            <a:ext cx="2011680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202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4F4F6"/>
                </a:solidFill>
                <a:latin typeface="Georgia"/>
              </a:rPr>
              <a:t>राजनीतिक
प्रबंधन सूट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8844"/>
                </a:solidFill>
                <a:latin typeface="Calibri"/>
              </a:rPr>
              <a:t>Political Management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7E"/>
                </a:solidFill>
                <a:latin typeface="Calibri"/>
              </a:rPr>
              <a:t>Face Recognition · AI-Powered
Karyakarta Tracking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37760"/>
            <a:ext cx="1755648" cy="274320"/>
          </a:xfrm>
          <a:prstGeom prst="roundRect">
            <a:avLst/>
          </a:prstGeom>
          <a:solidFill>
            <a:srgbClr val="1A1A2A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A00"/>
                </a:solidFill>
                <a:latin typeface="Calibri"/>
              </a:rPr>
              <a:t>v2.0  CONFIDENTIAL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457200"/>
            <a:ext cx="5943600" cy="100584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457200"/>
            <a:ext cx="54864" cy="10058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548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6"/>
                </a:solidFill>
                <a:latin typeface="Calibri"/>
              </a:rPr>
              <a:t>Visitor 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Face scan entry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0" y="731520"/>
            <a:ext cx="457200" cy="320040"/>
          </a:xfrm>
          <a:prstGeom prst="roundRect">
            <a:avLst/>
          </a:prstGeom>
          <a:solidFill>
            <a:srgbClr val="1A0A02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6A00"/>
                </a:solidFill>
                <a:latin typeface="Calibri"/>
              </a:rPr>
              <a:t>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627632"/>
            <a:ext cx="5943600" cy="100584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1627632"/>
            <a:ext cx="54864" cy="10058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17190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719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6"/>
                </a:solidFill>
                <a:latin typeface="Calibri"/>
              </a:rPr>
              <a:t>Attendance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084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Live counter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0" y="1901952"/>
            <a:ext cx="457200" cy="320040"/>
          </a:xfrm>
          <a:prstGeom prst="roundRect">
            <a:avLst/>
          </a:prstGeom>
          <a:solidFill>
            <a:srgbClr val="1A0A02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6A00"/>
                </a:solidFill>
                <a:latin typeface="Calibri"/>
              </a:rPr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2798064"/>
            <a:ext cx="5943600" cy="100584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0" y="2798064"/>
            <a:ext cx="54864" cy="10058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2889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889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6"/>
                </a:solidFill>
                <a:latin typeface="Calibri"/>
              </a:rPr>
              <a:t>President Tour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552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Tour tracking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0" y="3072384"/>
            <a:ext cx="457200" cy="320040"/>
          </a:xfrm>
          <a:prstGeom prst="roundRect">
            <a:avLst/>
          </a:prstGeom>
          <a:solidFill>
            <a:srgbClr val="1A0A02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6A00"/>
                </a:solidFill>
                <a:latin typeface="Calibri"/>
              </a:rPr>
              <a:t>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3968496"/>
            <a:ext cx="5943600" cy="100584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0" y="3968496"/>
            <a:ext cx="54864" cy="10058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405993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05993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6"/>
                </a:solidFill>
                <a:latin typeface="Calibri"/>
              </a:rPr>
              <a:t>Mandal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4256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Post-event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0" y="4242816"/>
            <a:ext cx="457200" cy="320040"/>
          </a:xfrm>
          <a:prstGeom prst="roundRect">
            <a:avLst/>
          </a:prstGeom>
          <a:solidFill>
            <a:srgbClr val="1A0A02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6A00"/>
                </a:solidFill>
                <a:latin typeface="Calibri"/>
              </a:rPr>
              <a:t>04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5138928"/>
            <a:ext cx="5943600" cy="1005840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0" y="5138928"/>
            <a:ext cx="54864" cy="10058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06440" y="5230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230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6"/>
                </a:solidFill>
                <a:latin typeface="Calibri"/>
              </a:rPr>
              <a:t>Karyakarta Search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596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Photo retrieval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0" y="5413248"/>
            <a:ext cx="457200" cy="320040"/>
          </a:xfrm>
          <a:prstGeom prst="roundRect">
            <a:avLst/>
          </a:prstGeom>
          <a:solidFill>
            <a:srgbClr val="1A0A02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6A00"/>
                </a:solidFill>
                <a:latin typeface="Calibri"/>
              </a:rPr>
              <a:t>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64008" cy="3200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A00"/>
                </a:solidFill>
                <a:latin typeface="Calibri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F4F6"/>
                </a:solidFill>
                <a:latin typeface="Georgia"/>
              </a:rPr>
              <a:t>How EventLens Political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B8CC"/>
                </a:solidFill>
                <a:latin typeface="Calibri"/>
              </a:rPr>
              <a:t>Face Recognition + Form Management + Admin Console — एक platform पर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3474720" cy="3108960"/>
          </a:xfrm>
          <a:prstGeom prst="rect">
            <a:avLst/>
          </a:prstGeom>
          <a:solidFill>
            <a:srgbClr val="16161E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834640"/>
            <a:ext cx="3474720" cy="5486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4F4F6"/>
                </a:solidFill>
                <a:latin typeface="Calibr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F4F6"/>
                </a:solidFill>
                <a:latin typeface="Georgia"/>
              </a:rPr>
              <a:t>Public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B8CC"/>
                </a:solidFill>
                <a:latin typeface="Calibri"/>
              </a:rPr>
              <a:t>Face scan karo
Form bharo
Entry record 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4206240"/>
            <a:ext cx="228600" cy="73152"/>
          </a:xfrm>
          <a:prstGeom prst="rect">
            <a:avLst/>
          </a:prstGeom>
          <a:solidFill>
            <a:srgbClr val="6C6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834640"/>
            <a:ext cx="3474720" cy="3108960"/>
          </a:xfrm>
          <a:prstGeom prst="rect">
            <a:avLst/>
          </a:prstGeom>
          <a:solidFill>
            <a:srgbClr val="16161E"/>
          </a:solidFill>
          <a:ln w="12700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834640"/>
            <a:ext cx="3474720" cy="54864"/>
          </a:xfrm>
          <a:prstGeom prst="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971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4F4F6"/>
                </a:solidFill>
                <a:latin typeface="Calibri"/>
              </a:rP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611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F4F6"/>
                </a:solidFill>
                <a:latin typeface="Georgia"/>
              </a:rPr>
              <a:t>AWS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B8CC"/>
                </a:solidFill>
                <a:latin typeface="Calibri"/>
              </a:rPr>
              <a:t>Rekognition AI
DynamoDB Store
S3 Photos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4206240"/>
            <a:ext cx="228600" cy="73152"/>
          </a:xfrm>
          <a:prstGeom prst="rect">
            <a:avLst/>
          </a:prstGeom>
          <a:solidFill>
            <a:srgbClr val="6C6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2834640"/>
            <a:ext cx="3474720" cy="3108960"/>
          </a:xfrm>
          <a:prstGeom prst="rect">
            <a:avLst/>
          </a:prstGeom>
          <a:solidFill>
            <a:srgbClr val="16161E"/>
          </a:solidFill>
          <a:ln w="1270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2834640"/>
            <a:ext cx="3474720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2971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4F4F6"/>
                </a:solidFill>
                <a:latin typeface="Calibri"/>
              </a:rPr>
              <a:t>🖥️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11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F4F6"/>
                </a:solidFill>
                <a:latin typeface="Georgia"/>
              </a:rPr>
              <a:t>Admin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B8CC"/>
                </a:solidFill>
                <a:latin typeface="Calibri"/>
              </a:rPr>
              <a:t>Real-time data
Analytics
CSV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C6C7E"/>
                </a:solidFill>
                <a:latin typeface="Calibri"/>
              </a:rPr>
              <a:t>① Karyakarta scans face  →  ② AI matches &amp; stores  →  ③ Admin sees real-time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64008" cy="3200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A00"/>
                </a:solidFill>
                <a:latin typeface="Calibri"/>
              </a:rPr>
              <a:t>MODULE 01  —  VISITOR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F4F6"/>
                </a:solidFill>
                <a:latin typeface="Georgia"/>
              </a:rPr>
              <a:t>Visitor Form: कार्यालय आगंतुक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B8CC"/>
                </a:solidFill>
                <a:latin typeface="Calibri"/>
              </a:rPr>
              <a:t>Face scan se automatic entry + पिछली visits का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474720" cy="411480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6"/>
                </a:solidFill>
                <a:latin typeface="Calibri"/>
              </a:rPr>
              <a:t>🏢  BJP कार्यालय — Visitor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📷  चेहरा स्कैन करें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37560"/>
            <a:ext cx="2743200" cy="1645920"/>
          </a:xfrm>
          <a:prstGeom prst="rect">
            <a:avLst/>
          </a:prstGeom>
          <a:solidFill>
            <a:srgbClr val="050510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6C7E"/>
                </a:solidFill>
                <a:latin typeface="Calibri"/>
              </a:rPr>
              <a:t>[ Face Scan Area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FA7E"/>
                </a:solidFill>
                <a:latin typeface="Calibri"/>
              </a:rPr>
              <a:t>✅  मिलान मिला!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6"/>
                </a:solidFill>
                <a:latin typeface="Calibri"/>
              </a:rPr>
              <a:t>श्री Ramesh Kumar — 5वीं विजिट 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📍 Indore  •  भाजपा सदस्य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514600"/>
            <a:ext cx="36576" cy="5486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468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Face Recognition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8163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Camera se face scan — automatic pehchaan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246120"/>
            <a:ext cx="36576" cy="5486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Visit Count Badge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5478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5वीं, 7वीं visit — 🌟 नियमित badge milta hai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977640"/>
            <a:ext cx="36576" cy="5486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931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Auto-fill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2793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Pehle se registered? Name/mobile auto-fill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4709160"/>
            <a:ext cx="36576" cy="5486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Hindi Voice Greeting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0109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"Ramesh ji, aapka swagat hai!" — AI voice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5440680"/>
            <a:ext cx="36576" cy="5486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5394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Photo Capture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57424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Entry photo DynamoDB + S3 mein store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64008" cy="3200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A00"/>
                </a:solidFill>
                <a:latin typeface="Calibri"/>
              </a:rPr>
              <a:t>MODULE 02  — 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F4F6"/>
                </a:solidFill>
                <a:latin typeface="Georgia"/>
              </a:rPr>
              <a:t>Party Attendance: उपस्थिति ट्रैकिंग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B8CC"/>
                </a:solidFill>
                <a:latin typeface="Calibri"/>
              </a:rPr>
              <a:t>Face scan se event mein attendance — real-time live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474720" cy="411480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6"/>
                </a:solidFill>
                <a:latin typeface="Calibri"/>
              </a:rPr>
              <a:t>✅  Party Attendance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926080"/>
            <a:ext cx="2560320" cy="411480"/>
          </a:xfrm>
          <a:prstGeom prst="roundRect">
            <a:avLst/>
          </a:prstGeom>
          <a:solidFill>
            <a:srgbClr val="0A1A0A"/>
          </a:solidFill>
          <a:ln w="9525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443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FA7E"/>
                </a:solidFill>
                <a:latin typeface="Calibri"/>
              </a:rPr>
              <a:t>🟢  आज की उपस्थिति: 247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6"/>
                </a:solidFill>
                <a:latin typeface="Calibri"/>
              </a:rPr>
              <a:t>📷  चेहरा स्कैन करें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40480"/>
            <a:ext cx="2743200" cy="1371600"/>
          </a:xfrm>
          <a:prstGeom prst="rect">
            <a:avLst/>
          </a:prstGeom>
          <a:solidFill>
            <a:srgbClr val="050510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6C7E"/>
                </a:solidFill>
                <a:latin typeface="Calibri"/>
              </a:rPr>
              <a:t>[ Camera Scan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6"/>
                </a:solidFill>
                <a:latin typeface="Calibri"/>
              </a:rPr>
              <a:t>🎉  Sunita Devi — Registered!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Form auto-saved · Photo uploaded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514600"/>
            <a:ext cx="36576" cy="548640"/>
          </a:xfrm>
          <a:prstGeom prst="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4F6"/>
                </a:solidFill>
                <a:latin typeface="Calibri"/>
              </a:rPr>
              <a:t>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68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Live Counter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163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Header mein 30 sec auto-refresh — "आज की उपस्थिति: 247"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246120"/>
            <a:ext cx="36576" cy="548640"/>
          </a:xfrm>
          <a:prstGeom prst="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4F6"/>
                </a:solidFill>
                <a:latin typeface="Calibri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Face Scan Entry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5478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Face match karo — form auto-fill, photo upload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977640"/>
            <a:ext cx="36576" cy="548640"/>
          </a:xfrm>
          <a:prstGeom prst="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4F6"/>
                </a:solidFill>
                <a:latin typeface="Calibri"/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3931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Manual Entry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2793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Gallery se photo ya direct form — dono option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709160"/>
            <a:ext cx="36576" cy="548640"/>
          </a:xfrm>
          <a:prstGeom prst="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4F6"/>
                </a:solidFill>
                <a:latin typeface="Calibri"/>
              </a:rPr>
              <a:t>☁️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Cloud 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50109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DynamoDB mein instant save — admin console mein dikhta 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5440680"/>
            <a:ext cx="36576" cy="548640"/>
          </a:xfrm>
          <a:prstGeom prst="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5394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4F6"/>
                </a:solidFill>
                <a:latin typeface="Calibri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5394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Real-time 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57424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Har entry admin ko turant dikh jaati hai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64008" cy="3200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A00"/>
                </a:solidFill>
                <a:latin typeface="Calibri"/>
              </a:rPr>
              <a:t>MODULES 03, 04,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F4F6"/>
                </a:solidFill>
                <a:latin typeface="Georgia"/>
              </a:rPr>
              <a:t>President Tour · Coordinator · Program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B8CC"/>
                </a:solidFill>
                <a:latin typeface="Calibri"/>
              </a:rPr>
              <a:t>जिला अध्यक्ष tracking + संयोजक management + कार्यक्रम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657600" cy="3840480"/>
          </a:xfrm>
          <a:prstGeom prst="rect">
            <a:avLst/>
          </a:prstGeom>
          <a:solidFill>
            <a:srgbClr val="16161E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3657600" cy="54864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F4F6"/>
                </a:solidFill>
                <a:latin typeface="Calibri"/>
              </a:rPr>
              <a:t>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6"/>
                </a:solidFill>
                <a:latin typeface="Georgia"/>
              </a:rPr>
              <a:t>President Tour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A00"/>
                </a:solidFill>
                <a:latin typeface="Calibri"/>
              </a:rPr>
              <a:t>जिला अध्यक्ष के कार्यक्रम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77639"/>
            <a:ext cx="3291840" cy="914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" y="4206240"/>
            <a:ext cx="109728" cy="109728"/>
          </a:xfrm>
          <a:prstGeom prst="round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148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Tour date &amp; location record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4645152"/>
            <a:ext cx="109728" cy="109728"/>
          </a:xfrm>
          <a:prstGeom prst="round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5537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Face photo at 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084064"/>
            <a:ext cx="109728" cy="109728"/>
          </a:xfrm>
          <a:prstGeom prst="round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9926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Dashboard mein timeline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5522975"/>
            <a:ext cx="109728" cy="109728"/>
          </a:xfrm>
          <a:prstGeom prst="round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43153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Admin ko real-time update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560320"/>
            <a:ext cx="3657600" cy="3840480"/>
          </a:xfrm>
          <a:prstGeom prst="rect">
            <a:avLst/>
          </a:prstGeom>
          <a:solidFill>
            <a:srgbClr val="16161E"/>
          </a:solidFill>
          <a:ln w="9525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560320"/>
            <a:ext cx="3657600" cy="54864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6974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F4F6"/>
                </a:solidFill>
                <a:latin typeface="Calibri"/>
              </a:rP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6"/>
                </a:solidFill>
                <a:latin typeface="Georgia"/>
              </a:rPr>
              <a:t>Coordinator 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11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  <a:latin typeface="Calibri"/>
              </a:rPr>
              <a:t>मंडल संयोजक जानकारी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977639"/>
            <a:ext cx="3291840" cy="914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07992" y="4206240"/>
            <a:ext cx="109728" cy="109728"/>
          </a:xfrm>
          <a:prstGeom prst="round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41148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Mandal-wise coordinator entry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07992" y="4645152"/>
            <a:ext cx="109728" cy="109728"/>
          </a:xfrm>
          <a:prstGeom prst="round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45537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Name, mobile, district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07992" y="5084064"/>
            <a:ext cx="109728" cy="109728"/>
          </a:xfrm>
          <a:prstGeom prst="round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49926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Event se linked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07992" y="5522975"/>
            <a:ext cx="109728" cy="109728"/>
          </a:xfrm>
          <a:prstGeom prst="round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543153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Admin console mein 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560320"/>
            <a:ext cx="3657600" cy="3840480"/>
          </a:xfrm>
          <a:prstGeom prst="rect">
            <a:avLst/>
          </a:prstGeom>
          <a:solidFill>
            <a:srgbClr val="16161E"/>
          </a:solidFill>
          <a:ln w="9525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560320"/>
            <a:ext cx="3657600" cy="54864"/>
          </a:xfrm>
          <a:prstGeom prst="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26974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4F4F6"/>
                </a:solidFill>
                <a:latin typeface="Calibri"/>
              </a:rPr>
              <a:t>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F4F6"/>
                </a:solidFill>
                <a:latin typeface="Georgia"/>
              </a:rPr>
              <a:t>Program Info 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611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FA7E"/>
                </a:solidFill>
                <a:latin typeface="Calibri"/>
              </a:rPr>
              <a:t>कार्यक्रम की जानकारी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3977639"/>
            <a:ext cx="3291840" cy="9144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94192" y="4206240"/>
            <a:ext cx="109728" cy="109728"/>
          </a:xfrm>
          <a:prstGeom prst="round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77072" y="41148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Event name, date, venue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4192" y="4645152"/>
            <a:ext cx="109728" cy="109728"/>
          </a:xfrm>
          <a:prstGeom prst="round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7072" y="455371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Expected attendance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94192" y="5084064"/>
            <a:ext cx="109728" cy="109728"/>
          </a:xfrm>
          <a:prstGeom prst="round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7072" y="49926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Link to mandal report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94192" y="5522975"/>
            <a:ext cx="109728" cy="109728"/>
          </a:xfrm>
          <a:prstGeom prst="round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7072" y="543153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B8CC"/>
                </a:solidFill>
                <a:latin typeface="Calibri"/>
              </a:rPr>
              <a:t>Pre-event planning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64008" cy="3200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A00"/>
                </a:solidFill>
                <a:latin typeface="Calibri"/>
              </a:rPr>
              <a:t>MODULE 06  —  MANDAL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F4F6"/>
                </a:solidFill>
                <a:latin typeface="Georgia"/>
              </a:rPr>
              <a:t>Mandal Reporting: रिपोर्ट सिस्टम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B8CC"/>
                </a:solidFill>
                <a:latin typeface="Calibri"/>
              </a:rPr>
              <a:t>कार्यक्रम के बाद mandal ka report — photos + details + admin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657600" cy="411480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657600" cy="4572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6"/>
                </a:solidFill>
                <a:latin typeface="Calibri"/>
              </a:rPr>
              <a:t>📋  Mandal Report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71800"/>
            <a:ext cx="3291840" cy="475488"/>
          </a:xfrm>
          <a:prstGeom prst="rect">
            <a:avLst/>
          </a:prstGeom>
          <a:solidFill>
            <a:srgbClr val="1E1E2A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900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6C7E"/>
                </a:solidFill>
                <a:latin typeface="Calibri"/>
              </a:rPr>
              <a:t>Mandal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6"/>
                </a:solidFill>
                <a:latin typeface="Calibri"/>
              </a:rPr>
              <a:t>Nagar Mandal — Ward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66160"/>
            <a:ext cx="3291840" cy="475488"/>
          </a:xfrm>
          <a:prstGeom prst="rect">
            <a:avLst/>
          </a:prstGeom>
          <a:solidFill>
            <a:srgbClr val="1E1E2A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8444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6C7E"/>
                </a:solidFill>
                <a:latin typeface="Calibri"/>
              </a:rPr>
              <a:t>Program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6"/>
                </a:solidFill>
                <a:latin typeface="Calibri"/>
              </a:rPr>
              <a:t>15 Feb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291840" cy="475488"/>
          </a:xfrm>
          <a:prstGeom prst="rect">
            <a:avLst/>
          </a:prstGeom>
          <a:solidFill>
            <a:srgbClr val="1E1E2A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7880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6C7E"/>
                </a:solidFill>
                <a:latin typeface="Calibri"/>
              </a:rPr>
              <a:t>Attendance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6"/>
                </a:solidFill>
                <a:latin typeface="Calibri"/>
              </a:rPr>
              <a:t>89 उपस्थित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754880"/>
            <a:ext cx="3291840" cy="475488"/>
          </a:xfrm>
          <a:prstGeom prst="rect">
            <a:avLst/>
          </a:prstGeom>
          <a:solidFill>
            <a:srgbClr val="1E1E2A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731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6C7E"/>
                </a:solidFill>
                <a:latin typeface="Calibri"/>
              </a:rPr>
              <a:t>Program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6"/>
                </a:solidFill>
                <a:latin typeface="Calibri"/>
              </a:rPr>
              <a:t>Booth Sammelan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3291840" cy="475488"/>
          </a:xfrm>
          <a:prstGeom prst="rect">
            <a:avLst/>
          </a:prstGeom>
          <a:solidFill>
            <a:srgbClr val="1E1E2A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6752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C6C7E"/>
                </a:solidFill>
                <a:latin typeface="Calibri"/>
              </a:rPr>
              <a:t>Photos Uploaded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4F6"/>
                </a:solidFill>
                <a:latin typeface="Calibri"/>
              </a:rPr>
              <a:t>12 photos 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989320"/>
            <a:ext cx="3291840" cy="384048"/>
          </a:xfrm>
          <a:prstGeom prst="round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F4F6"/>
                </a:solidFill>
                <a:latin typeface="Calibri"/>
              </a:rPr>
              <a:t>📤  Report Submit करें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377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F4F6"/>
                </a:solidFill>
                <a:latin typeface="Georgia"/>
              </a:rPr>
              <a:t>Report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2880360"/>
            <a:ext cx="384048" cy="384048"/>
          </a:xfrm>
          <a:prstGeom prst="roundRect">
            <a:avLst/>
          </a:prstGeom>
          <a:solidFill>
            <a:srgbClr val="1A0A02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6A00"/>
                </a:solidFill>
                <a:latin typeface="Calibr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28346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Field Worker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154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Event ke baad mandal reporting form kholta hai QR link 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3566160"/>
            <a:ext cx="384048" cy="384048"/>
          </a:xfrm>
          <a:prstGeom prst="roundRect">
            <a:avLst/>
          </a:prstGeom>
          <a:solidFill>
            <a:srgbClr val="1A0A02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6A00"/>
                </a:solidFill>
                <a:latin typeface="Calibr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520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Form Fill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840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Attendance count, program type, photos upload karta hai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4251959"/>
            <a:ext cx="384048" cy="384048"/>
          </a:xfrm>
          <a:prstGeom prst="roundRect">
            <a:avLst/>
          </a:prstGeom>
          <a:solidFill>
            <a:srgbClr val="1A0A02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6A00"/>
                </a:solidFill>
                <a:latin typeface="Calibr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2062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Photo Upload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45262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S3 mein store, face index hoti hai automatically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4937759"/>
            <a:ext cx="384048" cy="384048"/>
          </a:xfrm>
          <a:prstGeom prst="roundRect">
            <a:avLst/>
          </a:prstGeom>
          <a:solidFill>
            <a:srgbClr val="1A0A02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6A00"/>
                </a:solidFill>
                <a:latin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892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Admin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52120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Turant console mein dikhta hai — approve/reject kar sakte hain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5623559"/>
            <a:ext cx="384048" cy="384048"/>
          </a:xfrm>
          <a:prstGeom prst="roundRect">
            <a:avLst/>
          </a:prstGeom>
          <a:solidFill>
            <a:srgbClr val="1A0A02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6A00"/>
                </a:solidFill>
                <a:latin typeface="Calibr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55778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58978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Mandal-wise graphs — kaun late report karta hai, kaun nahi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64008" cy="3200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A00"/>
                </a:solidFill>
                <a:latin typeface="Calibri"/>
              </a:rPr>
              <a:t>MODULE 07  —  KARYAKARTA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F4F6"/>
                </a:solidFill>
                <a:latin typeface="Georgia"/>
              </a:rPr>
              <a:t>Political Search: कार्यकर्ता अपनी Photos खोजे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B8CC"/>
                </a:solidFill>
                <a:latin typeface="Calibri"/>
              </a:rPr>
              <a:t>Mobile number ya selfie se apni saari event photos ek jagah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474720" cy="4114800"/>
          </a:xfrm>
          <a:prstGeom prst="rect">
            <a:avLst/>
          </a:prstGeom>
          <a:solidFill>
            <a:srgbClr val="16161E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474720" cy="457200"/>
          </a:xfrm>
          <a:prstGeom prst="rect">
            <a:avLst/>
          </a:prstGeom>
          <a:solidFill>
            <a:srgbClr val="0F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B429"/>
                </a:solidFill>
                <a:latin typeface="Calibri"/>
              </a:rPr>
              <a:t>🔍  अपनी Photos खोजें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44368"/>
            <a:ext cx="3200400" cy="914400"/>
          </a:xfrm>
          <a:prstGeom prst="rect">
            <a:avLst/>
          </a:prstGeom>
          <a:solidFill>
            <a:srgbClr val="1E1E2A"/>
          </a:solidFill>
          <a:ln w="635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992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A00"/>
                </a:solidFill>
                <a:latin typeface="Calibri"/>
              </a:rPr>
              <a:t>Step 1: चेहरा या 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6"/>
                </a:solidFill>
                <a:latin typeface="Calibri"/>
              </a:rPr>
              <a:t>📷  Selfie  OR  📱  Mobile Number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977639"/>
            <a:ext cx="3200400" cy="640080"/>
          </a:xfrm>
          <a:prstGeom prst="rect">
            <a:avLst/>
          </a:prstGeom>
          <a:solidFill>
            <a:srgbClr val="051508"/>
          </a:solidFill>
          <a:ln w="9525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416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FA7E"/>
                </a:solidFill>
                <a:latin typeface="Calibri"/>
              </a:rPr>
              <a:t>✅  मिल गया!  •  92% match  •  3 events  •  18 photos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709160"/>
            <a:ext cx="960120" cy="438912"/>
          </a:xfrm>
          <a:prstGeom prst="rect">
            <a:avLst/>
          </a:prstGeom>
          <a:solidFill>
            <a:srgbClr val="1A2F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212080"/>
            <a:ext cx="960120" cy="438912"/>
          </a:xfrm>
          <a:prstGeom prst="rect">
            <a:avLst/>
          </a:prstGeom>
          <a:solidFill>
            <a:srgbClr val="1A2F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715000"/>
            <a:ext cx="960120" cy="438912"/>
          </a:xfrm>
          <a:prstGeom prst="rect">
            <a:avLst/>
          </a:prstGeom>
          <a:solidFill>
            <a:srgbClr val="1A2F1A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74519" y="4709160"/>
            <a:ext cx="960120" cy="438912"/>
          </a:xfrm>
          <a:prstGeom prst="rect">
            <a:avLst/>
          </a:prstGeom>
          <a:solidFill>
            <a:srgbClr val="1A1A2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4519" y="5212080"/>
            <a:ext cx="960120" cy="438912"/>
          </a:xfrm>
          <a:prstGeom prst="rect">
            <a:avLst/>
          </a:prstGeom>
          <a:solidFill>
            <a:srgbClr val="1A1A2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4519" y="5715000"/>
            <a:ext cx="960120" cy="438912"/>
          </a:xfrm>
          <a:prstGeom prst="rect">
            <a:avLst/>
          </a:prstGeom>
          <a:solidFill>
            <a:srgbClr val="1A1A2F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79" y="4709160"/>
            <a:ext cx="960120" cy="438912"/>
          </a:xfrm>
          <a:prstGeom prst="rect">
            <a:avLst/>
          </a:prstGeom>
          <a:solidFill>
            <a:srgbClr val="2A1A10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79" y="5212080"/>
            <a:ext cx="960120" cy="438912"/>
          </a:xfrm>
          <a:prstGeom prst="rect">
            <a:avLst/>
          </a:prstGeom>
          <a:solidFill>
            <a:srgbClr val="2A1A10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79" y="5715000"/>
            <a:ext cx="960120" cy="438912"/>
          </a:xfrm>
          <a:prstGeom prst="rect">
            <a:avLst/>
          </a:prstGeom>
          <a:solidFill>
            <a:srgbClr val="2A1A10"/>
          </a:solidFill>
          <a:ln w="381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377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F4F6"/>
                </a:solidFill>
                <a:latin typeface="Georgia"/>
              </a:rPr>
              <a:t>कार्यकर्ता क्या देख सकते हैं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834640"/>
            <a:ext cx="7040880" cy="685800"/>
          </a:xfrm>
          <a:prstGeom prst="rect">
            <a:avLst/>
          </a:prstGeom>
          <a:solidFill>
            <a:srgbClr val="1E1E2A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2834640"/>
            <a:ext cx="45720" cy="6858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907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🏢 BJP Office Visit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218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3 Feb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017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B429"/>
                </a:solidFill>
                <a:latin typeface="Calibri"/>
              </a:rPr>
              <a:t>2 photos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657600"/>
            <a:ext cx="7040880" cy="685800"/>
          </a:xfrm>
          <a:prstGeom prst="rect">
            <a:avLst/>
          </a:prstGeom>
          <a:solidFill>
            <a:srgbClr val="1E1E2A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3657600"/>
            <a:ext cx="45720" cy="6858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3730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✅ Booth Sammelan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041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15 Jan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3840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B429"/>
                </a:solidFill>
                <a:latin typeface="Calibri"/>
              </a:rPr>
              <a:t>5 photos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4480560"/>
            <a:ext cx="7040880" cy="685800"/>
          </a:xfrm>
          <a:prstGeom prst="rect">
            <a:avLst/>
          </a:prstGeom>
          <a:solidFill>
            <a:srgbClr val="1E1E2A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4880" y="4480560"/>
            <a:ext cx="45720" cy="6858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4553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🚩 President Tour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8646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10 Jan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4663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B429"/>
                </a:solidFill>
                <a:latin typeface="Calibri"/>
              </a:rPr>
              <a:t>11 photos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3492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6C7E"/>
                </a:solidFill>
                <a:latin typeface="Calibri"/>
              </a:rPr>
              <a:t>+ Timeline view, photo download, WhatsApp share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5760720"/>
            <a:ext cx="2011680" cy="594360"/>
          </a:xfrm>
          <a:prstGeom prst="roundRect">
            <a:avLst/>
          </a:prstGeom>
          <a:solidFill>
            <a:srgbClr val="1E1E2A"/>
          </a:solidFill>
          <a:ln w="63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57790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0B429"/>
                </a:solidFill>
                <a:latin typeface="Calibri"/>
              </a:rPr>
              <a:t>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Photos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5760720"/>
            <a:ext cx="2011680" cy="594360"/>
          </a:xfrm>
          <a:prstGeom prst="roundRect">
            <a:avLst/>
          </a:prstGeom>
          <a:solidFill>
            <a:srgbClr val="1E1E2A"/>
          </a:solidFill>
          <a:ln w="6350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57790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AFA7E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Events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5760720"/>
            <a:ext cx="2011680" cy="594360"/>
          </a:xfrm>
          <a:prstGeom prst="roundRect">
            <a:avLst/>
          </a:prstGeom>
          <a:solidFill>
            <a:srgbClr val="1E1E2A"/>
          </a:solidFill>
          <a:ln w="635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57790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F6A00"/>
                </a:solidFill>
                <a:latin typeface="Calibri"/>
              </a:rPr>
              <a:t>92%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Match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64008" cy="3200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A00"/>
                </a:solidFill>
                <a:latin typeface="Calibri"/>
              </a:rPr>
              <a:t>MODULE 08  —  ADMIN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F4F6"/>
                </a:solidFill>
                <a:latin typeface="Georgia"/>
              </a:rPr>
              <a:t>Admin Console: पूरा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B8CC"/>
                </a:solidFill>
                <a:latin typeface="Calibri"/>
              </a:rPr>
              <a:t>Real-time dashboard · Analytics · CSV Export · Data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2743200" cy="914400"/>
          </a:xfrm>
          <a:prstGeom prst="rect">
            <a:avLst/>
          </a:prstGeom>
          <a:solidFill>
            <a:srgbClr val="16161E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2743200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A00"/>
                </a:solidFill>
                <a:latin typeface="Georgia"/>
              </a:rPr>
              <a:t>1,842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कुल कार्यकर्ता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468880"/>
            <a:ext cx="2743200" cy="914400"/>
          </a:xfrm>
          <a:prstGeom prst="rect">
            <a:avLst/>
          </a:prstGeom>
          <a:solidFill>
            <a:srgbClr val="16161E"/>
          </a:solidFill>
          <a:ln w="9525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468880"/>
            <a:ext cx="2743200" cy="45720"/>
          </a:xfrm>
          <a:prstGeom prst="rect">
            <a:avLst/>
          </a:prstGeom>
          <a:solidFill>
            <a:srgbClr val="1AF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560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FA7E"/>
                </a:solidFill>
                <a:latin typeface="Georgia"/>
              </a:rPr>
              <a:t>247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आज की उपस्थिति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468880"/>
            <a:ext cx="2743200" cy="914400"/>
          </a:xfrm>
          <a:prstGeom prst="rect">
            <a:avLst/>
          </a:prstGeom>
          <a:solidFill>
            <a:srgbClr val="16161E"/>
          </a:solidFill>
          <a:ln w="9525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468880"/>
            <a:ext cx="2743200" cy="4572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B429"/>
                </a:solidFill>
                <a:latin typeface="Georgia"/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मंडल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468880"/>
            <a:ext cx="2743200" cy="914400"/>
          </a:xfrm>
          <a:prstGeom prst="rect">
            <a:avLst/>
          </a:prstGeom>
          <a:solidFill>
            <a:srgbClr val="16161E"/>
          </a:solidFill>
          <a:ln w="9525">
            <a:solidFill>
              <a:srgbClr val="B8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468880"/>
            <a:ext cx="2743200" cy="45720"/>
          </a:xfrm>
          <a:prstGeom prst="rect">
            <a:avLst/>
          </a:prstGeom>
          <a:solidFill>
            <a:srgbClr val="B8B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560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8B8CC"/>
                </a:solidFill>
                <a:latin typeface="Georgia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Active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4F6"/>
                </a:solidFill>
                <a:latin typeface="Calibri"/>
              </a:rPr>
              <a:t>Data Records — Search &amp; Export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11247120" cy="347472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599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C7E"/>
                </a:solidFill>
                <a:latin typeface="Calibri"/>
              </a:rPr>
              <a:t>Photo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599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C7E"/>
                </a:solidFill>
                <a:latin typeface="Calibri"/>
              </a:rPr>
              <a:t>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0599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C7E"/>
                </a:solidFill>
                <a:latin typeface="Calibri"/>
              </a:rPr>
              <a:t>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059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C7E"/>
                </a:solidFill>
                <a:latin typeface="Calibri"/>
              </a:rPr>
              <a:t>Form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0599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C7E"/>
                </a:solidFill>
                <a:latin typeface="Calibri"/>
              </a:rPr>
              <a:t>District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059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C7E"/>
                </a:solidFill>
                <a:latin typeface="Calibri"/>
              </a:rPr>
              <a:t>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0599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C6C7E"/>
                </a:solidFill>
                <a:latin typeface="Calibri"/>
              </a:rPr>
              <a:t>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434840"/>
            <a:ext cx="11247120" cy="347472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714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4714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6"/>
                </a:solidFill>
                <a:latin typeface="Calibri"/>
              </a:rPr>
              <a:t>Ramesh Kumar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4714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9876543210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471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visitor_form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44714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Indore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4714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1 Mar 2025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4480559"/>
            <a:ext cx="457200" cy="246888"/>
          </a:xfrm>
          <a:prstGeom prst="roundRect">
            <a:avLst/>
          </a:prstGeom>
          <a:solidFill>
            <a:srgbClr val="0A1A0A"/>
          </a:solidFill>
          <a:ln w="6350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AFA7E"/>
                </a:solidFill>
                <a:latin typeface="Calibri"/>
              </a:rPr>
              <a:t>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46320"/>
            <a:ext cx="11247120" cy="347472"/>
          </a:xfrm>
          <a:prstGeom prst="rect">
            <a:avLst/>
          </a:prstGeom>
          <a:solidFill>
            <a:srgbClr val="0606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8828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882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6"/>
                </a:solidFill>
                <a:latin typeface="Calibri"/>
              </a:rPr>
              <a:t>Sunita Devi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488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9812345678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4882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party_attendance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4882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Bhopal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8828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1 Mar 2025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4892040"/>
            <a:ext cx="457200" cy="246888"/>
          </a:xfrm>
          <a:prstGeom prst="roundRect">
            <a:avLst/>
          </a:prstGeom>
          <a:solidFill>
            <a:srgbClr val="0A1A0A"/>
          </a:solidFill>
          <a:ln w="6350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AFA7E"/>
                </a:solidFill>
                <a:latin typeface="Calibri"/>
              </a:rPr>
              <a:t>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257800"/>
            <a:ext cx="11247120" cy="347472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294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52943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F4F6"/>
                </a:solidFill>
                <a:latin typeface="Calibri"/>
              </a:rPr>
              <a:t>Anil Sharma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5294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9898989898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0" y="5294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mandal_reporting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5294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Gwalior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294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28 Feb 2025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63840" y="5303520"/>
            <a:ext cx="457200" cy="246888"/>
          </a:xfrm>
          <a:prstGeom prst="roundRect">
            <a:avLst/>
          </a:prstGeom>
          <a:solidFill>
            <a:srgbClr val="0A1A0A"/>
          </a:solidFill>
          <a:ln w="6350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AFA7E"/>
                </a:solidFill>
                <a:latin typeface="Calibri"/>
              </a:rPr>
              <a:t>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852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7E"/>
                </a:solidFill>
                <a:latin typeface="Calibri"/>
              </a:rPr>
              <a:t>🔍 Search by name/mobile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0" y="5760720"/>
            <a:ext cx="1371600" cy="365760"/>
          </a:xfrm>
          <a:prstGeom prst="roundRect">
            <a:avLst/>
          </a:prstGeom>
          <a:solidFill>
            <a:srgbClr val="0A180A"/>
          </a:solidFill>
          <a:ln w="9525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AFA7E"/>
                </a:solidFill>
                <a:latin typeface="Calibri"/>
              </a:rPr>
              <a:t>📥 Export CSV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41280" y="5760720"/>
            <a:ext cx="1371600" cy="365760"/>
          </a:xfrm>
          <a:prstGeom prst="roundRect">
            <a:avLst/>
          </a:prstGeom>
          <a:solidFill>
            <a:srgbClr val="1A1002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6A00"/>
                </a:solidFill>
                <a:latin typeface="Calibri"/>
              </a:rPr>
              <a:t>🖨 Print Report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05840"/>
            <a:ext cx="64008" cy="3200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A00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F4F6"/>
                </a:solidFill>
                <a:latin typeface="Georgia"/>
              </a:rPr>
              <a:t>AWS Architecture: Enterprise 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B8CC"/>
                </a:solidFill>
                <a:latin typeface="Calibri"/>
              </a:rPr>
              <a:t>100% Serverless · Auto-scaling · Pay-per-use · 99.9% uptime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14630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3246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490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A00"/>
                </a:solidFill>
                <a:latin typeface="Calibri"/>
              </a:rPr>
              <a:t>Mobile
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3200400"/>
            <a:ext cx="14630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3246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7490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0B429"/>
                </a:solidFill>
                <a:latin typeface="Calibri"/>
              </a:rPr>
              <a:t>API
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011680"/>
            <a:ext cx="14630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057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👁️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560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FA7E"/>
                </a:solidFill>
                <a:latin typeface="Calibri"/>
              </a:rPr>
              <a:t>Rekognition
Face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4389120"/>
            <a:ext cx="14630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1AF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4434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93775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FA7E"/>
                </a:solidFill>
                <a:latin typeface="Calibri"/>
              </a:rPr>
              <a:t>Lambda
Functions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011680"/>
            <a:ext cx="14630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8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057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🗄️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560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B8CC"/>
                </a:solidFill>
                <a:latin typeface="Calibri"/>
              </a:rPr>
              <a:t>DynamoDB
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389120"/>
            <a:ext cx="14630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B8B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4434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93775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B8CC"/>
                </a:solidFill>
                <a:latin typeface="Calibri"/>
              </a:rPr>
              <a:t>S3
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3200400"/>
            <a:ext cx="1463040" cy="1097280"/>
          </a:xfrm>
          <a:prstGeom prst="roundRect">
            <a:avLst/>
          </a:prstGeom>
          <a:solidFill>
            <a:srgbClr val="16161E"/>
          </a:solidFill>
          <a:ln w="1270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880" y="3246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4F4F6"/>
                </a:solidFill>
                <a:latin typeface="Calibri"/>
              </a:rPr>
              <a:t>🖥️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7490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A00"/>
                </a:solidFill>
                <a:latin typeface="Calibri"/>
              </a:rPr>
              <a:t>Admin
Console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3520440"/>
            <a:ext cx="731520" cy="36576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60" y="2880360"/>
            <a:ext cx="731520" cy="36576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4846320"/>
            <a:ext cx="731520" cy="36576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3520440"/>
            <a:ext cx="731520" cy="36576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C6C7E"/>
                </a:solidFill>
                <a:latin typeface="Calibri"/>
              </a:rPr>
              <a:t>🔒 End-to-End Encrypted  ·  🌐 CORS Protected  ·  ✅ PIN Authentication  ·  🔑 JWT Secured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604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40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F4F6"/>
                </a:solidFill>
                <a:latin typeface="Georgia"/>
              </a:rPr>
              <a:t>EventLens Political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A00"/>
                </a:solidFill>
                <a:latin typeface="Georgia"/>
              </a:rP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84832"/>
            <a:ext cx="365760" cy="320040"/>
          </a:xfrm>
          <a:prstGeom prst="roundRect">
            <a:avLst/>
          </a:prstGeom>
          <a:solidFill>
            <a:srgbClr val="180A01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A0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6"/>
                </a:solidFill>
                <a:latin typeface="Calibri"/>
              </a:rPr>
              <a:t>Visitor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Daily karyakarta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87752"/>
            <a:ext cx="365760" cy="320040"/>
          </a:xfrm>
          <a:prstGeom prst="roundRect">
            <a:avLst/>
          </a:prstGeom>
          <a:solidFill>
            <a:srgbClr val="180A01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A00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6"/>
                </a:solidFill>
                <a:latin typeface="Calibri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 attendance + live counter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90672"/>
            <a:ext cx="365760" cy="320040"/>
          </a:xfrm>
          <a:prstGeom prst="roundRect">
            <a:avLst/>
          </a:prstGeom>
          <a:solidFill>
            <a:srgbClr val="180A01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A00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6"/>
                </a:solidFill>
                <a:latin typeface="Calibri"/>
              </a:rPr>
              <a:t>President Tour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जिला अध्यक्ष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93592"/>
            <a:ext cx="365760" cy="320040"/>
          </a:xfrm>
          <a:prstGeom prst="roundRect">
            <a:avLst/>
          </a:prstGeom>
          <a:solidFill>
            <a:srgbClr val="180A01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A00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6"/>
                </a:solidFill>
                <a:latin typeface="Calibri"/>
              </a:rPr>
              <a:t>Coordinator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Mandal coordinator info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96512"/>
            <a:ext cx="365760" cy="320040"/>
          </a:xfrm>
          <a:prstGeom prst="roundRect">
            <a:avLst/>
          </a:prstGeom>
          <a:solidFill>
            <a:srgbClr val="180A01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A00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6"/>
                </a:solidFill>
                <a:latin typeface="Calibri"/>
              </a:rPr>
              <a:t>Program Info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97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Pre-event planning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99432"/>
            <a:ext cx="365760" cy="320040"/>
          </a:xfrm>
          <a:prstGeom prst="roundRect">
            <a:avLst/>
          </a:prstGeom>
          <a:solidFill>
            <a:srgbClr val="180A01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A00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6"/>
                </a:solidFill>
                <a:latin typeface="Calibri"/>
              </a:rPr>
              <a:t>Mandal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00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Post-event reporting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102352"/>
            <a:ext cx="365760" cy="320040"/>
          </a:xfrm>
          <a:prstGeom prst="roundRect">
            <a:avLst/>
          </a:prstGeom>
          <a:solidFill>
            <a:srgbClr val="180A01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A00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6"/>
                </a:solidFill>
                <a:latin typeface="Calibri"/>
              </a:rPr>
              <a:t>Karyakarta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03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Photos + timeline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05272"/>
            <a:ext cx="365760" cy="320040"/>
          </a:xfrm>
          <a:prstGeom prst="roundRect">
            <a:avLst/>
          </a:prstGeom>
          <a:solidFill>
            <a:srgbClr val="180A01"/>
          </a:solidFill>
          <a:ln w="9525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6A00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F4F6"/>
                </a:solidFill>
                <a:latin typeface="Calibri"/>
              </a:rPr>
              <a:t>Admin Console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806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Full control +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4F4F6"/>
                </a:solidFill>
                <a:latin typeface="Georgia"/>
              </a:rPr>
              <a:t>अगले कदम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6C7E"/>
                </a:solidFill>
                <a:latin typeface="Calibri"/>
              </a:rPr>
              <a:t>Next Steps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828800"/>
            <a:ext cx="5486400" cy="749808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828800"/>
            <a:ext cx="45720" cy="7498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Demo Setup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2311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Live demo karana chahte hain — collection setup karte hain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724912"/>
            <a:ext cx="5486400" cy="749808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2724912"/>
            <a:ext cx="45720" cy="7498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2816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⚙️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2770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Configuration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31272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Branding, form fields, custom QR codes setup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621024"/>
            <a:ext cx="5486400" cy="749808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621024"/>
            <a:ext cx="45720" cy="7498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37124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9712" y="36667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Staff Training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30-min training — admin console ka full walkthrough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517136"/>
            <a:ext cx="5486400" cy="749808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4517136"/>
            <a:ext cx="45720" cy="7498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460857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9712" y="456285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Go Live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9712" y="49194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First event pe live karein — results dekhein same 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5413248"/>
            <a:ext cx="5486400" cy="749808"/>
          </a:xfrm>
          <a:prstGeom prst="rect">
            <a:avLst/>
          </a:prstGeom>
          <a:solidFill>
            <a:srgbClr val="16161E"/>
          </a:solidFill>
          <a:ln w="635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5413248"/>
            <a:ext cx="45720" cy="749808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5504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4F6"/>
                </a:solidFill>
                <a:latin typeface="Calibri"/>
              </a:rPr>
              <a:t>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9712" y="5458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4F6"/>
                </a:solidFill>
                <a:latin typeface="Calibri"/>
              </a:rPr>
              <a:t>Monthly Review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9712" y="58155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7E"/>
                </a:solidFill>
                <a:latin typeface="Calibri"/>
              </a:rPr>
              <a:t>Usage analytics, feature requests, scale karein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6309360"/>
            <a:ext cx="5486400" cy="45720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6309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F4F6"/>
                </a:solidFill>
                <a:latin typeface="Calibri"/>
              </a:rPr>
              <a:t>📞  Demo के लिए संपर्क करें — EventLens Team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5196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C6C7E"/>
                </a:solidFill>
                <a:latin typeface="Calibri"/>
              </a:rPr>
              <a:t>EventLens Political Suite  • 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519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6C7E"/>
                </a:solidFill>
                <a:latin typeface="Calibri"/>
              </a:rPr>
              <a:t>© 2025 EventLens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